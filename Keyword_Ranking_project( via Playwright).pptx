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7" r:id="rId3"/>
    <p:sldId id="258" r:id="rId4"/>
    <p:sldId id="270" r:id="rId5"/>
    <p:sldId id="273" r:id="rId6"/>
    <p:sldId id="259" r:id="rId7"/>
    <p:sldId id="271" r:id="rId8"/>
    <p:sldId id="260" r:id="rId9"/>
    <p:sldId id="274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815ED-5FB4-4965-2D4F-75590BE04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3E670-E421-BE55-6CD3-098A6CCD3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0DDDD-A88B-5266-7434-C4E58E71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4DF7-93E4-490E-9F16-652ED7A34E0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EAAA8-D478-F81C-DE38-BAFC12E02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D842E-AB9E-186C-860D-6907474D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9C7A-ABCD-4248-8321-82FF3E18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483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149EB-BC6A-D417-75FC-77D0B7EB5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FA791-54DF-C509-C8E9-A732E6D6A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7C04C-39C7-FBBD-8241-682953739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4DF7-93E4-490E-9F16-652ED7A34E0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4A174-230E-0452-6303-30B066C3E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4A21C-9770-25B8-6D31-FEC595BE7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9C7A-ABCD-4248-8321-82FF3E18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690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C08C1-086B-61E2-5572-55116F6D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C13C3-EB96-9156-91F2-E73DAF6E4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46243-2B50-59B4-86DC-2222E2F56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4DF7-93E4-490E-9F16-652ED7A34E0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80C6E-6518-B20D-AEAD-28BF72274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9BAE6-CDE1-374B-9E45-29458192A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9C7A-ABCD-4248-8321-82FF3E18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122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16062-B8D5-B16B-095E-E00B1FD1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66335-330D-7419-F936-775F84BA0F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6CE30-C617-08A3-9CB4-999784D33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6C93B-7B76-6CDD-DBE2-70B32AE44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4DF7-93E4-490E-9F16-652ED7A34E0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F99E8-8A1A-5529-FB05-DBC92A619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7E04A-CEF3-D998-3F2A-DBED5A1D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9C7A-ABCD-4248-8321-82FF3E18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51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ABCB-EE38-19F1-7928-2C08A93EE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34EC3-7950-F3F9-A461-0388F3029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D4CD6-C4AD-D006-17F1-7F79842A9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0041FF-2650-8BEC-E507-C34C435D6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A9086-88B1-3628-E06A-7E3F5AE87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D4054-7ABC-28D1-E9C5-D8CB150D6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4DF7-93E4-490E-9F16-652ED7A34E0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4C950C-1DAB-AD11-0237-9CD344F2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CD7B9F-B7AB-0DE4-DADB-25C5CE88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9C7A-ABCD-4248-8321-82FF3E18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029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B4FA-76DB-70F0-3E35-1D4BE3F48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82284B-9DE8-803E-F086-B66CD3286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4DF7-93E4-490E-9F16-652ED7A34E0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8885C-198F-19D8-15CE-6798CDF2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75E0D-3ABC-2D8C-234B-35F19F651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9C7A-ABCD-4248-8321-82FF3E18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007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FBFC84-2ABA-2842-E515-ACF5CABD5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4DF7-93E4-490E-9F16-652ED7A34E0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CE5EB-2414-885F-64C5-1931D0287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FCE0C-359D-A4B5-6331-DC386EB5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9C7A-ABCD-4248-8321-82FF3E18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410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26498-42DC-9BFF-6067-2D061D35D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8E174-6462-3946-42DA-0F7F8CFD7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657EA-8842-5EB9-43D5-8CDD6C7B2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1EEC4-A067-ACD6-C3C2-92C8218F6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4DF7-93E4-490E-9F16-652ED7A34E0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DA1F3-33EF-302A-B3E4-A5DC1CCC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B4C0-3E6E-EF2A-647D-2015A537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9C7A-ABCD-4248-8321-82FF3E18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441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A0E3E-297D-5FC3-F74E-D3A11B55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02B6D2-3E4F-F9A4-B4B3-5476A03DF5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A5ED2-17B7-1CD1-3180-A046C6240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29A67-A4E7-9793-A765-8578E9550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4DF7-93E4-490E-9F16-652ED7A34E0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06005-6B3A-DB37-489C-64C7418F4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C82E6-977F-5BB2-B08A-FE498D64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9C7A-ABCD-4248-8321-82FF3E18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566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2E70-BCC1-12B2-8F23-CBB25E5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4D440-D22D-0BF1-9B9D-DBB4F227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EB8C6-F994-CB67-EACE-7E584EC1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4DF7-93E4-490E-9F16-652ED7A34E0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F24AA-1918-267A-1F3A-CC82214B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59EB3-C87A-9C1A-69DB-65F9F147F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9C7A-ABCD-4248-8321-82FF3E18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897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83AC6-ED86-B881-28C8-0AFED9E1AE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BF31C-6E88-50ED-2F44-CE72CA3F3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127AB-0AF7-7B48-4672-8699726F5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14DF7-93E4-490E-9F16-652ED7A34E0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C0FD0-2D01-7FFE-B8F1-9BC58F13C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A4F6B-5AC4-E033-33F2-10BEA2ADE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29C7A-ABCD-4248-8321-82FF3E18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840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8D4E92-096D-DDDF-4480-71A9D7FC3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08383-FC42-CD77-042D-37E2B575C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C9D3E-F21B-DCF1-0506-4DEEE171CC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14DF7-93E4-490E-9F16-652ED7A34E0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ADB69-0439-9A32-7A77-6A0651887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30369-0E82-73CF-6320-94FC5FB4F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29C7A-ABCD-4248-8321-82FF3E183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16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E543C-0DA0-35AD-B1DC-1CC5AC5E6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53520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Agentic Ranking(keyword) Intelligence System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(via Playwright)</a:t>
            </a:r>
            <a:endParaRPr lang="en-IN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023FC-9E52-D498-F360-71D4A7600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4822" y="3627918"/>
            <a:ext cx="9144000" cy="1655762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            </a:t>
            </a:r>
            <a:r>
              <a:rPr lang="en-US" dirty="0"/>
              <a:t>Keyword Position Tracking &amp; Strategic Analysis</a:t>
            </a:r>
          </a:p>
          <a:p>
            <a:r>
              <a:rPr lang="en-US" b="1" dirty="0"/>
              <a:t>                      Client:</a:t>
            </a:r>
            <a:r>
              <a:rPr lang="en-US" dirty="0"/>
              <a:t> </a:t>
            </a:r>
            <a:r>
              <a:rPr lang="en-US" dirty="0" err="1"/>
              <a:t>Omkitchen</a:t>
            </a:r>
            <a:r>
              <a:rPr lang="en-US" dirty="0"/>
              <a:t> Noida (Homestyle Organic Meals Delivery)</a:t>
            </a:r>
          </a:p>
          <a:p>
            <a:r>
              <a:rPr lang="en-IN" b="1" dirty="0"/>
              <a:t>Project Domain:</a:t>
            </a:r>
            <a:r>
              <a:rPr lang="en-IN" dirty="0"/>
              <a:t> omorganickitchen.com</a:t>
            </a:r>
          </a:p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Abhinav Tripathi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48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7F3CE-889E-4698-E192-0AEE5343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947" y="1"/>
            <a:ext cx="10913853" cy="137159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+mn-lt"/>
              </a:rPr>
              <a:t>Project Overview &amp;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E462A-006E-B52A-EC17-AFCCE9809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38" y="1181819"/>
            <a:ext cx="10913853" cy="51844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Business Challenge</a:t>
            </a:r>
          </a:p>
          <a:p>
            <a:r>
              <a:rPr lang="en-US" sz="2000" dirty="0"/>
              <a:t>Manual tracking of local SEO rankings is time-consuming and error-prone</a:t>
            </a:r>
          </a:p>
          <a:p>
            <a:r>
              <a:rPr lang="en-US" sz="2000" dirty="0"/>
              <a:t>Difficulty in monitoring keyword positions across both organic and local pack results</a:t>
            </a:r>
          </a:p>
          <a:p>
            <a:r>
              <a:rPr lang="en-US" sz="2000" dirty="0"/>
              <a:t>Lack of actionable insights from raw ranking data</a:t>
            </a:r>
          </a:p>
          <a:p>
            <a:r>
              <a:rPr lang="en-US" sz="2000" dirty="0"/>
              <a:t>Need for scalable solution to track multiple keywords simultaneously</a:t>
            </a:r>
          </a:p>
          <a:p>
            <a:r>
              <a:rPr lang="en-US" sz="2000" dirty="0"/>
              <a:t>Delayed stakeholder visibility - manual report distribution bottleneck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Our Solution</a:t>
            </a:r>
          </a:p>
          <a:p>
            <a:r>
              <a:rPr lang="en-US" sz="2000" dirty="0"/>
              <a:t>An </a:t>
            </a:r>
            <a:r>
              <a:rPr lang="en-US" sz="2000" b="1" dirty="0"/>
              <a:t>Agentic AI-driven system</a:t>
            </a:r>
            <a:r>
              <a:rPr lang="en-US" sz="2000" dirty="0"/>
              <a:t> that:</a:t>
            </a:r>
          </a:p>
          <a:p>
            <a:r>
              <a:rPr lang="en-US" sz="2000" dirty="0"/>
              <a:t>Scrapes Google search results for organic rankings (Links)</a:t>
            </a:r>
          </a:p>
          <a:p>
            <a:r>
              <a:rPr lang="en-US" sz="2000" dirty="0"/>
              <a:t>Tracks Google Local Pack positions (Places)</a:t>
            </a:r>
          </a:p>
          <a:p>
            <a:r>
              <a:rPr lang="en-US" sz="2000" dirty="0"/>
              <a:t>Generates strategic SEO recommendations using AI analysis</a:t>
            </a:r>
          </a:p>
          <a:p>
            <a:r>
              <a:rPr lang="en-US" sz="2000" dirty="0"/>
              <a:t>Delivers actionable insights in organized Excel reports</a:t>
            </a:r>
          </a:p>
          <a:p>
            <a:r>
              <a:rPr lang="en-US" sz="2000" dirty="0"/>
              <a:t>Automatically emails reports to stakeholders(Addition)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39113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8E4B-39ED-C9BC-2804-689A2379A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92" y="1"/>
            <a:ext cx="11095008" cy="79362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+mn-lt"/>
              </a:rPr>
              <a:t>Technical Architecture &amp;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289AA-450C-317E-DB69-299E027E5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15" y="793630"/>
            <a:ext cx="10956985" cy="58745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System Components</a:t>
            </a:r>
          </a:p>
          <a:p>
            <a:pPr marL="0" indent="0">
              <a:buNone/>
            </a:pPr>
            <a:r>
              <a:rPr lang="en-IN" sz="2000" b="1" dirty="0"/>
              <a:t>1. Agentic Architecture (LangGraph)</a:t>
            </a:r>
          </a:p>
          <a:p>
            <a:r>
              <a:rPr lang="en-IN" sz="2000" b="1" dirty="0"/>
              <a:t>Search Agent</a:t>
            </a:r>
            <a:r>
              <a:rPr lang="en-IN" sz="2000" dirty="0"/>
              <a:t>: Executes keyword searches and extracts ranking data</a:t>
            </a:r>
          </a:p>
          <a:p>
            <a:r>
              <a:rPr lang="en-IN" sz="2000" b="1" dirty="0"/>
              <a:t>Insight Agent</a:t>
            </a:r>
            <a:r>
              <a:rPr lang="en-IN" sz="2000" dirty="0"/>
              <a:t>: </a:t>
            </a:r>
            <a:r>
              <a:rPr lang="en-IN" sz="2000" dirty="0" err="1"/>
              <a:t>Analyzes</a:t>
            </a:r>
            <a:r>
              <a:rPr lang="en-IN" sz="2000" dirty="0"/>
              <a:t> results and generates AI-powered recommendations</a:t>
            </a:r>
          </a:p>
          <a:p>
            <a:r>
              <a:rPr lang="en-US" sz="2000" b="1" dirty="0"/>
              <a:t>Mail Agent</a:t>
            </a:r>
            <a:r>
              <a:rPr lang="en-US" sz="2000" dirty="0"/>
              <a:t>: Handles automated report delivery and stakeholder notifications</a:t>
            </a:r>
            <a:endParaRPr lang="en-IN" sz="2000" dirty="0"/>
          </a:p>
          <a:p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2. Browser Automation (Playwright)</a:t>
            </a:r>
          </a:p>
          <a:p>
            <a:r>
              <a:rPr lang="en-IN" sz="2000" dirty="0"/>
              <a:t>Headless Chrome with anti-detection measures</a:t>
            </a:r>
          </a:p>
          <a:p>
            <a:r>
              <a:rPr lang="en-IN" sz="2000" dirty="0"/>
              <a:t>Geo-located to Noida region (28.5355°N, 77.3910°E)</a:t>
            </a:r>
          </a:p>
          <a:p>
            <a:r>
              <a:rPr lang="en-IN" sz="2000" dirty="0"/>
              <a:t>Handles network errors, CAPTCHAs, and rate limiting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3. AI Analysis Engine (</a:t>
            </a:r>
            <a:r>
              <a:rPr lang="en-IN" sz="2000" b="1" dirty="0" err="1"/>
              <a:t>LLaMA</a:t>
            </a:r>
            <a:r>
              <a:rPr lang="en-IN" sz="2000" b="1" dirty="0"/>
              <a:t> 3.1)</a:t>
            </a:r>
          </a:p>
          <a:p>
            <a:r>
              <a:rPr lang="en-IN" sz="2000" dirty="0"/>
              <a:t>Processes ranking data through </a:t>
            </a:r>
            <a:r>
              <a:rPr lang="en-IN" sz="2000" dirty="0" err="1"/>
              <a:t>Groq</a:t>
            </a:r>
            <a:r>
              <a:rPr lang="en-IN" sz="2000" dirty="0"/>
              <a:t> API</a:t>
            </a:r>
          </a:p>
          <a:p>
            <a:r>
              <a:rPr lang="en-IN" sz="2000" dirty="0"/>
              <a:t>Generates 3-point strategic SEO recommendations</a:t>
            </a:r>
          </a:p>
          <a:p>
            <a:r>
              <a:rPr lang="en-IN" sz="2000" dirty="0"/>
              <a:t>Contextual analysis based on organic and local pack performance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87245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07EB-A884-25E2-9EB3-42DB90415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034" y="405442"/>
            <a:ext cx="11146766" cy="5771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4.Email Automation (SMTP)(Addition)</a:t>
            </a:r>
          </a:p>
          <a:p>
            <a:r>
              <a:rPr lang="en-IN" sz="2000" dirty="0"/>
              <a:t>Automated report delivery via Gmail SMTP</a:t>
            </a:r>
          </a:p>
          <a:p>
            <a:r>
              <a:rPr lang="en-IN" sz="2000" dirty="0"/>
              <a:t>Secure authentication with app-specific passwords</a:t>
            </a:r>
          </a:p>
          <a:p>
            <a:r>
              <a:rPr lang="en-IN" sz="2000" dirty="0"/>
              <a:t>Professional email formatting with summary statistics</a:t>
            </a:r>
          </a:p>
          <a:p>
            <a:r>
              <a:rPr lang="en-IN" sz="2000" dirty="0"/>
              <a:t>Attachment handling for Excel reports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5. Data Pipeline</a:t>
            </a:r>
          </a:p>
          <a:p>
            <a:r>
              <a:rPr lang="en-IN" sz="2000" b="1" dirty="0"/>
              <a:t>Input</a:t>
            </a:r>
            <a:r>
              <a:rPr lang="en-IN" sz="2000" dirty="0"/>
              <a:t> → Excel sheet with keywords &amp; target URLs</a:t>
            </a:r>
            <a:br>
              <a:rPr lang="en-IN" sz="2000" dirty="0"/>
            </a:br>
            <a:r>
              <a:rPr lang="en-IN" sz="2000" b="1" dirty="0"/>
              <a:t>Processing</a:t>
            </a:r>
            <a:r>
              <a:rPr lang="en-IN" sz="2000" dirty="0"/>
              <a:t> → Automated ranking extraction &amp; AI analysis</a:t>
            </a:r>
            <a:br>
              <a:rPr lang="en-IN" sz="2000" dirty="0"/>
            </a:br>
            <a:r>
              <a:rPr lang="en-IN" sz="2000" b="1" dirty="0"/>
              <a:t>Output</a:t>
            </a:r>
            <a:r>
              <a:rPr lang="en-IN" sz="2000" dirty="0"/>
              <a:t> → </a:t>
            </a:r>
            <a:r>
              <a:rPr lang="en-US" sz="2000" dirty="0"/>
              <a:t>Formatted Excel report with insights (Pandas + </a:t>
            </a:r>
            <a:r>
              <a:rPr lang="en-US" sz="2000" dirty="0" err="1"/>
              <a:t>XlsxWriter</a:t>
            </a:r>
            <a:r>
              <a:rPr lang="en-US" sz="2000" dirty="0"/>
              <a:t>)</a:t>
            </a:r>
            <a:br>
              <a:rPr lang="en-IN" sz="2000" dirty="0"/>
            </a:br>
            <a:r>
              <a:rPr lang="en-IN" sz="2000" b="1" dirty="0"/>
              <a:t>Delivery</a:t>
            </a:r>
            <a:r>
              <a:rPr lang="en-IN" sz="2000" dirty="0"/>
              <a:t> → Automated email with report attachment to stakeholder inbox</a:t>
            </a:r>
          </a:p>
          <a:p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3151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3902-3633-5BFF-C8C1-CF75BE1BC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75" y="1"/>
            <a:ext cx="11198525" cy="819508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+mn-lt"/>
              </a:rPr>
              <a:t>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6A2005-FC94-19AD-7488-75CA9F1FC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615" y="385343"/>
            <a:ext cx="2277374" cy="5791620"/>
          </a:xfrm>
        </p:spPr>
      </p:pic>
    </p:spTree>
    <p:extLst>
      <p:ext uri="{BB962C8B-B14F-4D97-AF65-F5344CB8AC3E}">
        <p14:creationId xmlns:p14="http://schemas.microsoft.com/office/powerpoint/2010/main" val="3596681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1856E-913A-09E4-D3A2-71838A9D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62" y="0"/>
            <a:ext cx="10991491" cy="81088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+mn-lt"/>
              </a:rPr>
              <a:t>Key Features &amp;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884F-2B36-CEFA-E803-BB7F454EE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106" y="810883"/>
            <a:ext cx="11189898" cy="53660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Ranking Intelligence:</a:t>
            </a:r>
          </a:p>
          <a:p>
            <a:pPr marL="0" indent="0">
              <a:buNone/>
            </a:pPr>
            <a:r>
              <a:rPr lang="en-IN" sz="2000" b="1" dirty="0"/>
              <a:t>Dual Ranking System</a:t>
            </a:r>
            <a:endParaRPr lang="en-IN" sz="2000" dirty="0"/>
          </a:p>
          <a:p>
            <a:r>
              <a:rPr lang="en-IN" sz="2000" dirty="0"/>
              <a:t>Organic search results (up to 50 positions across 5 pages)</a:t>
            </a:r>
          </a:p>
          <a:p>
            <a:r>
              <a:rPr lang="en-IN" sz="2000" dirty="0"/>
              <a:t>Local Pack rankings (top 3 and extended listings)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dirty="0"/>
              <a:t> </a:t>
            </a:r>
            <a:r>
              <a:rPr lang="en-IN" sz="2000" b="1" dirty="0"/>
              <a:t>Smart Error Handling</a:t>
            </a:r>
            <a:endParaRPr lang="en-IN" sz="2000" dirty="0"/>
          </a:p>
          <a:p>
            <a:r>
              <a:rPr lang="en-IN" sz="2000" dirty="0"/>
              <a:t>Network retry mechanisms</a:t>
            </a:r>
          </a:p>
          <a:p>
            <a:r>
              <a:rPr lang="en-IN" sz="2000" dirty="0"/>
              <a:t>CAPTCHA detection</a:t>
            </a:r>
          </a:p>
          <a:p>
            <a:r>
              <a:rPr lang="en-IN" sz="2000" dirty="0"/>
              <a:t>Domain verification and URL cleaning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dirty="0"/>
              <a:t> </a:t>
            </a:r>
            <a:r>
              <a:rPr lang="en-IN" sz="2000" b="1" dirty="0"/>
              <a:t>AI-Powered Insights</a:t>
            </a:r>
            <a:endParaRPr lang="en-IN" sz="2000" dirty="0"/>
          </a:p>
          <a:p>
            <a:r>
              <a:rPr lang="en-IN" sz="2000" dirty="0"/>
              <a:t>Automated SEO recommendations per keyword</a:t>
            </a:r>
          </a:p>
          <a:p>
            <a:r>
              <a:rPr lang="en-IN" sz="2000" dirty="0"/>
              <a:t>Tailored strategies based on current positions</a:t>
            </a:r>
          </a:p>
          <a:p>
            <a:r>
              <a:rPr lang="en-IN" sz="2000" dirty="0"/>
              <a:t>Actionable 3-point improvement plans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196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B0E93-A168-A5F2-DE63-9263E2861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21" y="319177"/>
            <a:ext cx="10922479" cy="58577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Data Quality &amp; Distribution:</a:t>
            </a:r>
          </a:p>
          <a:p>
            <a:pPr marL="0" indent="0">
              <a:buNone/>
            </a:pPr>
            <a:r>
              <a:rPr lang="en-IN" sz="2000" dirty="0"/>
              <a:t> </a:t>
            </a:r>
            <a:r>
              <a:rPr lang="en-IN" sz="2000" b="1" dirty="0"/>
              <a:t>Professional Output Format</a:t>
            </a:r>
            <a:endParaRPr lang="en-IN" sz="2000" dirty="0"/>
          </a:p>
          <a:p>
            <a:r>
              <a:rPr lang="en-IN" sz="2000" dirty="0"/>
              <a:t>Boxed cell formatting for readability</a:t>
            </a:r>
          </a:p>
          <a:p>
            <a:r>
              <a:rPr lang="en-IN" sz="2000" dirty="0"/>
              <a:t>Text-wrapped insights column</a:t>
            </a:r>
          </a:p>
          <a:p>
            <a:r>
              <a:rPr lang="en-IN" sz="2000" dirty="0"/>
              <a:t>Clean, organized structure for stakeholder review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dirty="0"/>
              <a:t> </a:t>
            </a:r>
            <a:r>
              <a:rPr lang="en-IN" sz="2000" b="1" dirty="0"/>
              <a:t>Automated Distribution</a:t>
            </a:r>
            <a:endParaRPr lang="en-IN" sz="2000" dirty="0"/>
          </a:p>
          <a:p>
            <a:r>
              <a:rPr lang="en-IN" sz="2000" dirty="0"/>
              <a:t>Email delivery to stakeholders via SMTP SSL</a:t>
            </a:r>
          </a:p>
          <a:p>
            <a:r>
              <a:rPr lang="en-IN" sz="2000" dirty="0"/>
              <a:t>Timestamped subject lines with generation date</a:t>
            </a:r>
          </a:p>
          <a:p>
            <a:r>
              <a:rPr lang="en-IN" sz="2000" dirty="0"/>
              <a:t>Professional email body with keywords tracked summary</a:t>
            </a:r>
          </a:p>
          <a:p>
            <a:r>
              <a:rPr lang="en-IN" sz="2000" dirty="0"/>
              <a:t>Excel report as secure attachment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93136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445F-A5D9-F653-D459-F8C4C50BD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02" y="0"/>
            <a:ext cx="11086381" cy="854015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+mn-lt"/>
              </a:rPr>
              <a:t>Results &amp;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762EC-F2BD-D599-191D-0FDA68F55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419" y="948906"/>
            <a:ext cx="11086381" cy="57279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Deliverables:</a:t>
            </a:r>
          </a:p>
          <a:p>
            <a:pPr marL="0" indent="0">
              <a:buNone/>
            </a:pPr>
            <a:r>
              <a:rPr lang="en-IN" sz="2000" dirty="0"/>
              <a:t> </a:t>
            </a:r>
            <a:r>
              <a:rPr lang="en-IN" sz="2000" b="1" dirty="0"/>
              <a:t>Comprehensive Ranking Report</a:t>
            </a:r>
            <a:r>
              <a:rPr lang="en-IN" sz="2000" dirty="0"/>
              <a:t> containing:</a:t>
            </a:r>
          </a:p>
          <a:p>
            <a:r>
              <a:rPr lang="en-IN" sz="2000" b="1" dirty="0"/>
              <a:t>Local Keyword Ideas</a:t>
            </a:r>
            <a:r>
              <a:rPr lang="en-IN" sz="2000" dirty="0"/>
              <a:t> - Target search terms</a:t>
            </a:r>
          </a:p>
          <a:p>
            <a:r>
              <a:rPr lang="en-IN" sz="2000" b="1" dirty="0"/>
              <a:t>Targeted Page</a:t>
            </a:r>
            <a:r>
              <a:rPr lang="en-IN" sz="2000" dirty="0"/>
              <a:t> - Specific URLs being ranked</a:t>
            </a:r>
          </a:p>
          <a:p>
            <a:r>
              <a:rPr lang="en-IN" sz="2000" b="1" dirty="0"/>
              <a:t>Google Rank (Links)</a:t>
            </a:r>
            <a:r>
              <a:rPr lang="en-IN" sz="2000" dirty="0"/>
              <a:t> - Organic position (1-50 or "Not Found")</a:t>
            </a:r>
          </a:p>
          <a:p>
            <a:r>
              <a:rPr lang="en-IN" sz="2000" b="1" dirty="0"/>
              <a:t>Google Rank (Places)</a:t>
            </a:r>
            <a:r>
              <a:rPr lang="en-IN" sz="2000" dirty="0"/>
              <a:t> - Local pack position (1-N or "Not Found")</a:t>
            </a:r>
          </a:p>
          <a:p>
            <a:r>
              <a:rPr lang="en-IN" sz="2000" b="1" dirty="0"/>
              <a:t>AI Strategic Insight</a:t>
            </a:r>
            <a:r>
              <a:rPr lang="en-IN" sz="2000" dirty="0"/>
              <a:t> - 3 actionable SEO recommendations</a:t>
            </a:r>
          </a:p>
          <a:p>
            <a:endParaRPr lang="en-IN" sz="2000" dirty="0"/>
          </a:p>
          <a:p>
            <a:pPr marL="0" indent="0">
              <a:buNone/>
            </a:pPr>
            <a:r>
              <a:rPr lang="en-IN" sz="2000" dirty="0"/>
              <a:t> </a:t>
            </a:r>
            <a:r>
              <a:rPr lang="en-IN" sz="2000" b="1" dirty="0"/>
              <a:t>Automated Email Delivery</a:t>
            </a:r>
            <a:r>
              <a:rPr lang="en-IN" sz="2000" dirty="0"/>
              <a:t> with:</a:t>
            </a:r>
          </a:p>
          <a:p>
            <a:r>
              <a:rPr lang="en-IN" sz="2000" dirty="0"/>
              <a:t>Timestamped report generation date in subject line</a:t>
            </a:r>
          </a:p>
          <a:p>
            <a:r>
              <a:rPr lang="en-IN" sz="2000" dirty="0"/>
              <a:t>Keywords tracked summary in professional email body</a:t>
            </a:r>
          </a:p>
          <a:p>
            <a:r>
              <a:rPr lang="en-IN" sz="2000" dirty="0"/>
              <a:t>Excel report as attachment</a:t>
            </a:r>
          </a:p>
          <a:p>
            <a:r>
              <a:rPr lang="en-IN" sz="2000" dirty="0"/>
              <a:t>Direct delivery to stakeholder inbox (no manual intervention)</a:t>
            </a:r>
          </a:p>
        </p:txBody>
      </p:sp>
    </p:spTree>
    <p:extLst>
      <p:ext uri="{BB962C8B-B14F-4D97-AF65-F5344CB8AC3E}">
        <p14:creationId xmlns:p14="http://schemas.microsoft.com/office/powerpoint/2010/main" val="1682007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DD78B-CFC8-0274-62BE-A7F022B6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446" y="215660"/>
            <a:ext cx="10074215" cy="43713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Automated Email Delivery(</a:t>
            </a:r>
            <a:r>
              <a:rPr lang="en-IN" b="1" dirty="0" err="1"/>
              <a:t>Screenshort</a:t>
            </a:r>
            <a:r>
              <a:rPr lang="en-IN" b="1" dirty="0"/>
              <a:t>)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75074F9-973E-D5FC-B30E-C5947BE38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25282" y="785004"/>
            <a:ext cx="7548017" cy="5857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034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326AF-3E1D-68F2-7C82-6AEEBBC40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891" y="471276"/>
            <a:ext cx="10936856" cy="6015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Business Value</a:t>
            </a:r>
          </a:p>
          <a:p>
            <a:r>
              <a:rPr lang="en-US" sz="2000" b="1" dirty="0"/>
              <a:t>Time Savings</a:t>
            </a:r>
            <a:r>
              <a:rPr lang="en-US" sz="2000" dirty="0"/>
              <a:t>: Automated tracking eliminates 10+ hours of manual work per report</a:t>
            </a:r>
          </a:p>
          <a:p>
            <a:r>
              <a:rPr lang="en-US" sz="2000" b="1" dirty="0"/>
              <a:t>Instant Distribution</a:t>
            </a:r>
            <a:r>
              <a:rPr lang="en-US" sz="2000" dirty="0"/>
              <a:t>: Reports automatically delivered to team inbox within seconds</a:t>
            </a:r>
          </a:p>
          <a:p>
            <a:r>
              <a:rPr lang="en-US" sz="2000" b="1" dirty="0"/>
              <a:t>Scalability</a:t>
            </a:r>
            <a:r>
              <a:rPr lang="en-US" sz="2000" dirty="0"/>
              <a:t>: Can process 100+ keywords with minimal supervision</a:t>
            </a:r>
          </a:p>
          <a:p>
            <a:r>
              <a:rPr lang="en-US" sz="2000" b="1" dirty="0"/>
              <a:t>Actionable Intelligence</a:t>
            </a:r>
            <a:r>
              <a:rPr lang="en-US" sz="2000" dirty="0"/>
              <a:t>: AI recommendations guide optimization priorities</a:t>
            </a:r>
          </a:p>
          <a:p>
            <a:r>
              <a:rPr lang="en-US" sz="2000" b="1" dirty="0"/>
              <a:t>Competitive Edge</a:t>
            </a:r>
            <a:r>
              <a:rPr lang="en-US" sz="2000" dirty="0"/>
              <a:t>: Regular monitoring enables rapid response to ranking changes</a:t>
            </a:r>
          </a:p>
          <a:p>
            <a:r>
              <a:rPr lang="en-US" sz="2000" b="1" dirty="0"/>
              <a:t>Data-Driven Decisions</a:t>
            </a:r>
            <a:r>
              <a:rPr lang="en-US" sz="2000" dirty="0"/>
              <a:t>: Clear metrics for measuring SEO ROI</a:t>
            </a:r>
          </a:p>
          <a:p>
            <a:r>
              <a:rPr lang="en-US" sz="2000" b="1" dirty="0"/>
              <a:t>Zero Distribution Lag</a:t>
            </a:r>
            <a:r>
              <a:rPr lang="en-US" sz="2000" dirty="0"/>
              <a:t>: Stakeholders receive insights immediately after generation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Technical Advantages</a:t>
            </a:r>
          </a:p>
          <a:p>
            <a:r>
              <a:rPr lang="en-US" sz="2000" b="1" dirty="0"/>
              <a:t>Reliable</a:t>
            </a:r>
            <a:r>
              <a:rPr lang="en-US" sz="2000" dirty="0"/>
              <a:t>: Built-in error handling and retry logic</a:t>
            </a:r>
          </a:p>
          <a:p>
            <a:r>
              <a:rPr lang="en-US" sz="2000" b="1" dirty="0"/>
              <a:t>Authentic</a:t>
            </a:r>
            <a:r>
              <a:rPr lang="en-US" sz="2000" dirty="0"/>
              <a:t>: Geo-targeted to actual business location</a:t>
            </a:r>
          </a:p>
          <a:p>
            <a:r>
              <a:rPr lang="en-US" sz="2000" b="1" dirty="0"/>
              <a:t>Stealth</a:t>
            </a:r>
            <a:r>
              <a:rPr lang="en-US" sz="2000" dirty="0"/>
              <a:t>: Anti-detection measures for consistent access</a:t>
            </a:r>
          </a:p>
          <a:p>
            <a:r>
              <a:rPr lang="en-US" sz="2000" b="1" dirty="0"/>
              <a:t>Maintainable</a:t>
            </a:r>
            <a:r>
              <a:rPr lang="en-US" sz="2000" dirty="0"/>
              <a:t>: Modular architecture for easy updates</a:t>
            </a:r>
          </a:p>
          <a:p>
            <a:r>
              <a:rPr lang="en-US" sz="2000" b="1" dirty="0"/>
              <a:t>Automated End-to-End</a:t>
            </a:r>
            <a:r>
              <a:rPr lang="en-US" sz="2000" dirty="0"/>
              <a:t>: From data collection to stakeholder delivery</a:t>
            </a:r>
          </a:p>
        </p:txBody>
      </p:sp>
    </p:spTree>
    <p:extLst>
      <p:ext uri="{BB962C8B-B14F-4D97-AF65-F5344CB8AC3E}">
        <p14:creationId xmlns:p14="http://schemas.microsoft.com/office/powerpoint/2010/main" val="876318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1015</TotalTime>
  <Words>663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Agentic Ranking(keyword) Intelligence System (via Playwright)</vt:lpstr>
      <vt:lpstr>Project Overview &amp; Problem Statement</vt:lpstr>
      <vt:lpstr>Technical Architecture &amp; Workflow</vt:lpstr>
      <vt:lpstr>PowerPoint Presentation</vt:lpstr>
      <vt:lpstr>WORKFLOW</vt:lpstr>
      <vt:lpstr>Key Features &amp; Capabilities</vt:lpstr>
      <vt:lpstr>PowerPoint Presentation</vt:lpstr>
      <vt:lpstr>Results &amp; Business Impact</vt:lpstr>
      <vt:lpstr>Automated Email Delivery(Screenshort)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Abhinav Tripathi</dc:creator>
  <cp:lastModifiedBy>Abhinav Tripathi</cp:lastModifiedBy>
  <cp:revision>11</cp:revision>
  <dcterms:created xsi:type="dcterms:W3CDTF">2026-01-04T11:43:06Z</dcterms:created>
  <dcterms:modified xsi:type="dcterms:W3CDTF">2026-01-09T10:14:16Z</dcterms:modified>
</cp:coreProperties>
</file>